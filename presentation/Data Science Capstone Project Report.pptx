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48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karSawant23/Data-Science-Capston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karSawant23/Data-Science-Capston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karSawant23/Data-Science-Capston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0"/>
            <a:ext cx="109728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365760"/>
            <a:ext cx="2560320" cy="2560320"/>
          </a:xfrm>
          <a:prstGeom prst="arc">
            <a:avLst/>
          </a:prstGeom>
          <a:noFill/>
          <a:ln w="25400">
            <a:solidFill>
              <a:srgbClr val="33B1FF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566160"/>
            <a:ext cx="3474720" cy="3474720"/>
          </a:xfrm>
          <a:prstGeom prst="arc">
            <a:avLst/>
          </a:prstGeom>
          <a:noFill/>
          <a:ln w="25400">
            <a:solidFill>
              <a:srgbClr val="FF7EB6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686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B1FF"/>
                </a:solidFill>
              </a:rPr>
              <a:t>IBM Data Science Capstone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SpaceX Falcon 9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Prediction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2F4F8"/>
                </a:solidFill>
              </a:rPr>
              <a:t>End-to-end data science workflow: API data collection, web scraping, wrangling, SQL analysis, EDA, Folium maps, Plotly Dash dashboard and classification modeling.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Prepared by Omkar Sawant</a:t>
            </a:r>
            <a:endParaRPr lang="en-US" sz="15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13232" y="449884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3B1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https://github.com/OmkarSawant23/Data-Science-Capstone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5257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393939"/>
          </a:solidFill>
          <a:ln w="12700">
            <a:solidFill>
              <a:srgbClr val="6F6F6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B1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5687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1C7CD"/>
                </a:solidFill>
              </a:rPr>
              <a:t>Launch sites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24912" y="5257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393939"/>
          </a:solidFill>
          <a:ln w="12700">
            <a:solidFill>
              <a:srgbClr val="6F6F6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B1FF"/>
                </a:solidFill>
              </a:rPr>
              <a:t>90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98064" y="5687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1C7CD"/>
                </a:solidFill>
              </a:rPr>
              <a:t>Falcon 9 records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36592" y="5257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393939"/>
          </a:solidFill>
          <a:ln w="12700">
            <a:solidFill>
              <a:srgbClr val="6F6F6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B1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9744" y="5687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1C7CD"/>
                </a:solidFill>
              </a:rPr>
              <a:t>ML models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48272" y="5257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393939"/>
          </a:solidFill>
          <a:ln w="12700">
            <a:solidFill>
              <a:srgbClr val="6F6F6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B1FF"/>
                </a:solidFill>
              </a:rPr>
              <a:t>83.3%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21424" y="5687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1C7CD"/>
                </a:solidFill>
              </a:rPr>
              <a:t>Best test accuracy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22960" y="123444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417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FFC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6192" y="138988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46888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FFC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36192" y="26243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Introduction &amp; Business Problem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8862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FFC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385876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Data Collection and Wrangling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93776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1206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FFC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36192" y="509320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EDA, SQL and Interactive Visual Analytics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123444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417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1FF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22592" y="138988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Predictive Analysis Methodology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46888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1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26243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Results: Visualizations, Maps, Dashboard and ML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370332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8862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1FF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22592" y="385876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Innovative Insights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493776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51206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1FF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22592" y="509320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</a:rPr>
              <a:t>Conclusion and Appendix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REQUIRED SLIDE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576072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Objective: predict whether the Falcon 9 first stage will land successfully.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Collected and prepared launch data using SpaceX API, web scraping, data wrangling and SQL.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Explored patterns with Seaborn/Matplotlib, Folium maps and a Plotly Dash dashboard.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Built classification models using standardized features and GridSearchCV.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Best test accuracy reached 83.3%, with Logistic Regression, SVM and KNN tying on the test set.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1430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1143000"/>
            <a:ext cx="73152" cy="9144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5432" y="125272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Business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5432" y="15819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Landing prediction helps estimate launch cost because booster recovery is directly linked to reusability and mission economics.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23317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331720"/>
            <a:ext cx="73152" cy="91440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244144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Analytical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85432" y="27706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Combining SQL, EDA, geospatial analysis and ML provided stronger evidence than relying on one method alone.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352044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3520440"/>
            <a:ext cx="73152" cy="914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363016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85432" y="39593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Success generally improved over time, and launch outcome is influenced by launch site, orbit type, payload mass and booster category.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20840" y="47091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4709160"/>
            <a:ext cx="73152" cy="914400"/>
          </a:xfrm>
          <a:prstGeom prst="rect">
            <a:avLst/>
          </a:prstGeom>
          <a:solidFill>
            <a:srgbClr val="FF7EB6"/>
          </a:solidFill>
          <a:ln w="12700">
            <a:solidFill>
              <a:srgbClr val="FF7E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481888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85432" y="51480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All notebooks, datasets, Dash app and outputs are stored on GitHub.</a:t>
            </a:r>
            <a:endParaRPr lang="en-US" sz="1050" dirty="0"/>
          </a:p>
        </p:txBody>
      </p:sp>
      <p:sp>
        <p:nvSpPr>
          <p:cNvPr id="29" name="Text 27">
            <a:hlinkClick r:id="rId3"/>
          </p:cNvPr>
          <p:cNvSpPr/>
          <p:nvPr/>
        </p:nvSpPr>
        <p:spPr>
          <a:xfrm>
            <a:off x="6903720" y="5715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8A3FF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https://github.com/OmkarSawant23/Data-Science-Capstone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Introduction: Problem Context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188720"/>
            <a:ext cx="53949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SpaceX Falcon 9 first-stage reuse is a major factor behind lower launch costs.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A successful landing reduces the cost of future launches by enabling booster reuse.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The core data science question: can historical launch information predict first-stage landing success?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The project follows a full workflow from data acquisition to machine learning and business interpretation.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1097280" cy="731520"/>
          </a:xfrm>
          <a:prstGeom prst="chevron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371600"/>
            <a:ext cx="1097280" cy="731520"/>
          </a:xfrm>
          <a:prstGeom prst="chevron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1371600"/>
            <a:ext cx="1097280" cy="731520"/>
          </a:xfrm>
          <a:prstGeom prst="chevron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1371600"/>
            <a:ext cx="1097280" cy="731520"/>
          </a:xfrm>
          <a:prstGeom prst="chevron">
            <a:avLst/>
          </a:prstGeom>
          <a:solidFill>
            <a:srgbClr val="FF7EB6"/>
          </a:solidFill>
          <a:ln w="12700">
            <a:solidFill>
              <a:srgbClr val="FF7E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331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</a:rPr>
              <a:t>Collect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5252"/>
                </a:solidFill>
              </a:rPr>
              <a:t>API + web scraping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35240" y="2331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</a:rPr>
              <a:t>Analyze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5252"/>
                </a:solidFill>
              </a:rPr>
              <a:t>SQL + EDA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15400" y="2331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</a:rPr>
              <a:t>Visualize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5252"/>
                </a:solidFill>
              </a:rPr>
              <a:t>Folium + Dash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195560" y="2331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</a:rPr>
              <a:t>Predict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5252"/>
                </a:solidFill>
              </a:rPr>
              <a:t>Classification models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0" y="370332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703320"/>
            <a:ext cx="73152" cy="100584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813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Target variable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65392" y="4142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Class = 1 for successful first-stage landing; Class = 0 for failed or non-successful landing outcomes.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 and Deliverables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 POINT REQIREMENT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20574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868680" y="2057400"/>
            <a:ext cx="73152" cy="82296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1671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notebooks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2496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Completed Jupyter notebooks for API, scraping, wrangling, SQL, EDA, maps and 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057400"/>
            <a:ext cx="73152" cy="82296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1671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datasets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496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CSV files and SQLite database used across the workflow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32004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200400"/>
            <a:ext cx="73152" cy="82296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3101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62626"/>
                </a:solidFill>
              </a:rPr>
              <a:t>dash_app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33272" y="3639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Plotly Dash application file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004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200400"/>
            <a:ext cx="73152" cy="82296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3101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outputs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2512" y="3639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Folium HTML maps, dashboard screenshots and visual evidence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43434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343400"/>
            <a:ext cx="73152" cy="82296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" y="44531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presentation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3272" y="4782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Final PowerPoint and PDF report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</a:rPr>
              <a:t>The repository is structured to support reproducibility and review: code, data, dashboard assets and visual outputs are organized in separate folders.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and Data Wrangling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3258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325880"/>
            <a:ext cx="73152" cy="105156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4356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1. API collection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17647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SpaceX REST API used to collect launch records, rocket IDs, payload data, launchpad metadata and landing outcomes.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325880"/>
            <a:ext cx="73152" cy="105156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4356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2. Web scraping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17647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BeautifulSoup used to extract Falcon 9 launch records from historical web tables.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834640"/>
            <a:ext cx="73152" cy="105156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29443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3. Cleaning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327355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Falcon 1 records removed, Falcon 9 records retained, missing PayloadMass values filled using the mean.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834640"/>
            <a:ext cx="73152" cy="1051560"/>
          </a:xfrm>
          <a:prstGeom prst="rect">
            <a:avLst/>
          </a:prstGeom>
          <a:solidFill>
            <a:srgbClr val="FF7EB6"/>
          </a:solidFill>
          <a:ln w="12700">
            <a:solidFill>
              <a:srgbClr val="FF7E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9443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4. Label creation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2512" y="327355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Landing outcomes transformed into binary Class label for predictive modeling.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80160" y="489204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5138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</a:rPr>
              <a:t>Output datasets: dataset_part_1.csv, spacex_web_scraped.csv, dataset_part_2.csv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and Feature Engineering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1234440"/>
            <a:ext cx="50292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Visual exploration used Matplotlib and Seaborn scatter plots, bar charts and trend lines.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Core relationships tested: launch site, orbit type, payload mass, flight number and landing success.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Yearly launch success trend was created to check operational learning over time.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Categorical variables were converted using one-hot encoding to support ML modeling.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11887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353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</a:rPr>
              <a:t>Raw launch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773936"/>
            <a:ext cx="640080" cy="320040"/>
          </a:xfrm>
          <a:prstGeom prst="downArrow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14884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313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</a:rPr>
              <a:t>EDA variables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83880" y="2734056"/>
            <a:ext cx="640080" cy="320040"/>
          </a:xfrm>
          <a:prstGeom prst="downArrow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10896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</a:rPr>
              <a:t>One-hot encoding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3694176"/>
            <a:ext cx="640080" cy="320040"/>
          </a:xfrm>
          <a:prstGeom prst="downArrow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06908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233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</a:rPr>
              <a:t>ML feature set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5166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5166360"/>
            <a:ext cx="73152" cy="77724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5276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Final EDA 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11112" y="5605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dataset_part_3.csv prepared for classification models.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Analysis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188720"/>
            <a:ext cx="50292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SQLite database my_data1.db was used to query the SpaceX launch dataset.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SQL queries applied filtering, grouping, aggregation, date extraction and sorting.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Analysis focused on launch site distribution, payload mass, booster versions, mission outcomes and landing outcome counts.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34440"/>
            <a:ext cx="73152" cy="96012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344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SELECT DISTINCT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1673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Unique launch sites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1234440"/>
            <a:ext cx="73152" cy="96012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344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GROUP 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4272" y="1673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Mission outcome counts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651760"/>
            <a:ext cx="73152" cy="96012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761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AVG / SUM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Payload mass summaries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26517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651760"/>
            <a:ext cx="73152" cy="96012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2761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WHERE + 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34272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Time-specific landing outcomes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434340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343400"/>
            <a:ext cx="73152" cy="914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4453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Why SQL matters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47823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SQL provided reproducible, question-driven validation of the same dataset before visualization and modeling.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Visual Analytics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31520" y="12344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34440"/>
            <a:ext cx="73152" cy="118872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3441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Folium geospatial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6733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Interactive launch-site maps were created to show launch locations, clustered success/failure markers and proximity to coastlines, cities, railway and highway features.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88920"/>
            <a:ext cx="73152" cy="118872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89864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Plotly Dash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2278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A Dash web application was built with a launch site dropdown, payload range slider, pie chart and payload-success scatter plot.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43400"/>
            <a:ext cx="73152" cy="118872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5312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User interaction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7823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Users can filter sites and payload ranges to visually compare landing success patterns in real time.</a:t>
            </a:r>
            <a:endParaRPr lang="en-US" sz="1050" dirty="0"/>
          </a:p>
        </p:txBody>
      </p:sp>
      <p:pic>
        <p:nvPicPr>
          <p:cNvPr id="22" name="Image 0" descr="/mnt/data/capstone_assets/dash_scatter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1420"/>
            <a:ext cx="5212080" cy="1934919"/>
          </a:xfrm>
          <a:prstGeom prst="rect">
            <a:avLst/>
          </a:prstGeom>
        </p:spPr>
      </p:pic>
      <p:pic>
        <p:nvPicPr>
          <p:cNvPr id="23" name="Image 1" descr="/mnt/data/capstone_assets/folium_static_map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197" y="3931920"/>
            <a:ext cx="40209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31520" y="11430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143000"/>
            <a:ext cx="73152" cy="914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2527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Feature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5819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One-hot encoded launch site, orbit, landing pad and booster serial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143000"/>
            <a:ext cx="73152" cy="9144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2527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Target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15819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Class label representing first-stage landing success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423160"/>
            <a:ext cx="73152" cy="914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53288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28620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StandardScaler applied to numerical feature matrix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2423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423160"/>
            <a:ext cx="73152" cy="9144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53288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82512" y="28620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Train-test split, GridSearchCV and test accuracy comparison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</a:rPr>
              <a:t>Models compared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57200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736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2626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11880" y="457200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4736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2626"/>
                </a:solidFill>
              </a:rPr>
              <a:t>Support Vector Machine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457200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D9FB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736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2626"/>
                </a:solidFill>
              </a:rPr>
              <a:t>Decision Tree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98280" y="457200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4736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2626"/>
                </a:solidFill>
              </a:rPr>
              <a:t>K-Nearest Neighbors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Visualization Results: Launch Success Drivers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RESULTS</a:t>
            </a:r>
            <a:endParaRPr lang="en-US" sz="850" dirty="0"/>
          </a:p>
        </p:txBody>
      </p:sp>
      <p:pic>
        <p:nvPicPr>
          <p:cNvPr id="12" name="Image 0" descr="/mnt/data/capstone_assets/eda_flight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91170"/>
            <a:ext cx="5394960" cy="1343940"/>
          </a:xfrm>
          <a:prstGeom prst="rect">
            <a:avLst/>
          </a:prstGeom>
        </p:spPr>
      </p:pic>
      <p:pic>
        <p:nvPicPr>
          <p:cNvPr id="13" name="Image 1" descr="/mnt/data/capstone_assets/eda_payload_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156" y="1143000"/>
            <a:ext cx="4437888" cy="22402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37033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50" dirty="0">
                <a:solidFill>
                  <a:srgbClr val="262626"/>
                </a:solidFill>
              </a:rPr>
              <a:t>Flight number shows a visible relationship with success: later launches contain more successful landings, suggesting operational learning.</a:t>
            </a:r>
            <a:endParaRPr lang="en-US" sz="1250" dirty="0"/>
          </a:p>
          <a:p>
            <a:r>
              <a:rPr lang="en-US" sz="1250" dirty="0">
                <a:solidFill>
                  <a:srgbClr val="262626"/>
                </a:solidFill>
              </a:rPr>
              <a:t>Payload mass alone does not fully determine success; successful landings occur across both lower and higher payload ranges.</a:t>
            </a:r>
            <a:endParaRPr lang="en-US" sz="1250" dirty="0"/>
          </a:p>
          <a:p>
            <a:r>
              <a:rPr lang="en-US" sz="1250" dirty="0">
                <a:solidFill>
                  <a:srgbClr val="262626"/>
                </a:solidFill>
              </a:rPr>
              <a:t>Launch site patterns differ, showing that site-specific operations and mission profiles may affect landing outcomes.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Visualization Results: Orbit and Time Trends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pic>
        <p:nvPicPr>
          <p:cNvPr id="10" name="Image 0" descr="/mnt/data/capstone_assets/eda_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244" y="1143000"/>
            <a:ext cx="4115753" cy="2651760"/>
          </a:xfrm>
          <a:prstGeom prst="rect">
            <a:avLst/>
          </a:prstGeom>
        </p:spPr>
      </p:pic>
      <p:pic>
        <p:nvPicPr>
          <p:cNvPr id="11" name="Image 1" descr="/mnt/data/capstone_assets/eda_success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614" y="1097280"/>
            <a:ext cx="3396611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7240" y="416052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4160520"/>
            <a:ext cx="73152" cy="1143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41832" y="427024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Orbit result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41832" y="459943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Some orbit categories show very high success rates, while GTO and ISS missions show more mixed outcomes.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3640" y="416052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4160520"/>
            <a:ext cx="73152" cy="1143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28232" y="427024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Time trend result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28232" y="459943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Success rate rises sharply after 2015 and remains comparatively strong in later years, supporting the learning-curve interpretation.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SQL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SQL RESULTS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234440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380744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SQL question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1380744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Result / insight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1691640"/>
            <a:ext cx="10789920" cy="713232"/>
          </a:xfrm>
          <a:prstGeom prst="rect">
            <a:avLst/>
          </a:prstGeom>
          <a:solidFill>
            <a:srgbClr val="F2F4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819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262626"/>
                </a:solidFill>
              </a:rPr>
              <a:t>Distinct launch sites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3675888" y="1801368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Four major sites were identified: CCAFS LC-40, CCAFS SLC-40, KSC LC-39A and VAFB SLC-4E.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2404872"/>
            <a:ext cx="10789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32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262626"/>
                </a:solidFill>
              </a:rPr>
              <a:t>Payload analysis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3675888" y="251460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SQL aggregation helped summarize payload mass by customer, booster and mission type.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118104"/>
            <a:ext cx="10789920" cy="713232"/>
          </a:xfrm>
          <a:prstGeom prst="rect">
            <a:avLst/>
          </a:prstGeom>
          <a:solidFill>
            <a:srgbClr val="F2F4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262626"/>
                </a:solidFill>
              </a:rPr>
              <a:t>Landing outcomes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3675888" y="3227832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Mission and landing outcomes were grouped to compare success, failure, no-attempt and drone ship/ground pad outcomes.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3831336"/>
            <a:ext cx="10789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59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262626"/>
                </a:solidFill>
              </a:rPr>
              <a:t>First ground-pad success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3675888" y="3941064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The first successful ground pad landing occurred in December 2015.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544568"/>
            <a:ext cx="10789920" cy="713232"/>
          </a:xfrm>
          <a:prstGeom prst="rect">
            <a:avLst/>
          </a:prstGeom>
          <a:solidFill>
            <a:srgbClr val="F2F4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6725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262626"/>
                </a:solidFill>
              </a:rPr>
              <a:t>Maximum payload missions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3675888" y="4654296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Several missions reached the maximum observed payload level of about 9,600 kg.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Map Results Using Folium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pic>
        <p:nvPicPr>
          <p:cNvPr id="10" name="Image 0" descr="/mnt/data/capstone_assets/folium_static_m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2093"/>
            <a:ext cx="6492240" cy="324805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06640" y="1234440"/>
            <a:ext cx="40233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20" dirty="0">
                <a:solidFill>
                  <a:srgbClr val="262626"/>
                </a:solidFill>
              </a:rPr>
              <a:t>Launch sites are positioned near coastlines, which supports safety and stage recovery logistics.</a:t>
            </a:r>
            <a:endParaRPr lang="en-US" sz="1220" dirty="0"/>
          </a:p>
          <a:p>
            <a:r>
              <a:rPr lang="en-US" sz="1220" dirty="0">
                <a:solidFill>
                  <a:srgbClr val="262626"/>
                </a:solidFill>
              </a:rPr>
              <a:t>Marker clusters distinguish successful and failed landings using green/red markers.</a:t>
            </a:r>
            <a:endParaRPr lang="en-US" sz="1220" dirty="0"/>
          </a:p>
          <a:p>
            <a:r>
              <a:rPr lang="en-US" sz="1220" dirty="0">
                <a:solidFill>
                  <a:srgbClr val="262626"/>
                </a:solidFill>
              </a:rPr>
              <a:t>Distance analysis measured proximity from launch site to coastline, city, railway and highway points.</a:t>
            </a:r>
            <a:endParaRPr lang="en-US" sz="1220" dirty="0"/>
          </a:p>
          <a:p>
            <a:r>
              <a:rPr lang="en-US" sz="1220" dirty="0">
                <a:solidFill>
                  <a:srgbClr val="262626"/>
                </a:solidFill>
              </a:rPr>
              <a:t>Example CCAFS LC-40 proximities: coastline ~0.58 km, railway ~1.32 km, highway ~0.64 km, city ~18.07 km.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7406640" y="5257800"/>
            <a:ext cx="3886200" cy="640080"/>
          </a:xfrm>
          <a:prstGeom prst="roundRect">
            <a:avLst>
              <a:gd name="adj" fmla="val 11429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5257800"/>
            <a:ext cx="73152" cy="64008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1232" y="5367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Deliverable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71232" y="569671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Interactive HTML maps saved in outputs/.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Plotly Dash Dashboard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 RESULTS</a:t>
            </a:r>
            <a:endParaRPr lang="en-US" sz="850" dirty="0"/>
          </a:p>
        </p:txBody>
      </p:sp>
      <p:pic>
        <p:nvPicPr>
          <p:cNvPr id="12" name="Image 0" descr="/mnt/data/capstone_assets/dash_pie_k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58908"/>
            <a:ext cx="5577840" cy="2219943"/>
          </a:xfrm>
          <a:prstGeom prst="rect">
            <a:avLst/>
          </a:prstGeom>
        </p:spPr>
      </p:pic>
      <p:pic>
        <p:nvPicPr>
          <p:cNvPr id="13" name="Image 1" descr="/mnt/data/capstone_assets/dash_scatter_pay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50501"/>
            <a:ext cx="5486400" cy="203675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" y="41605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160520"/>
            <a:ext cx="73152" cy="914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42702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Launch site filter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87552" y="4599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Selecting KSC LC-39A showed a strong success share of 76.9% in the pie chart.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55080" y="41605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55080" y="4160520"/>
            <a:ext cx="73152" cy="9144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19672" y="42702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Payload slider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19672" y="4599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The scatter plot allows interactive filtering of payload mass and comparison by booster version category.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Results: Classification Models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ML RESULTS</a:t>
            </a:r>
            <a:endParaRPr lang="en-US" sz="850" dirty="0"/>
          </a:p>
        </p:txBody>
      </p:sp>
      <p:pic>
        <p:nvPicPr>
          <p:cNvPr id="12" name="Image 0" descr="/mnt/data/capstone_assets/ml_accurac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25172"/>
            <a:ext cx="5486400" cy="3036055"/>
          </a:xfrm>
          <a:prstGeom prst="rect">
            <a:avLst/>
          </a:prstGeom>
        </p:spPr>
      </p:pic>
      <p:pic>
        <p:nvPicPr>
          <p:cNvPr id="13" name="Image 1" descr="/mnt/data/capstone_assets/ml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77" y="1325880"/>
            <a:ext cx="3312647" cy="2011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50" dirty="0">
                <a:solidFill>
                  <a:srgbClr val="262626"/>
                </a:solidFill>
              </a:rPr>
              <a:t>Logistic Regression, Support Vector Machine and KNN tied for the highest test accuracy at 83.3%.</a:t>
            </a:r>
            <a:endParaRPr lang="en-US" sz="1250" dirty="0"/>
          </a:p>
          <a:p>
            <a:r>
              <a:rPr lang="en-US" sz="1250" dirty="0">
                <a:solidFill>
                  <a:srgbClr val="262626"/>
                </a:solidFill>
              </a:rPr>
              <a:t>Decision Tree produced a lower test accuracy of 77.8%, suggesting slightly weaker generalization on the test split.</a:t>
            </a:r>
            <a:endParaRPr lang="en-US" sz="1250" dirty="0"/>
          </a:p>
          <a:p>
            <a:r>
              <a:rPr lang="en-US" sz="1250" dirty="0">
                <a:solidFill>
                  <a:srgbClr val="262626"/>
                </a:solidFill>
              </a:rPr>
              <a:t>Because three models tied, a simpler model such as Logistic Regression is a practical final choice for interpretability and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Innovative Insights and Business Implications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" y="1042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CREATIVITY + INSIGHTS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114300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143000"/>
            <a:ext cx="73152" cy="100584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12527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Learning curve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158191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Success rates improved in later years, suggesting operational refinement and booster recovery learning.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14300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143000"/>
            <a:ext cx="73152" cy="100584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2527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Mission context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158191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Launch site, orbit type and payload mass interact; no single variable fully explains success.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26060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606040"/>
            <a:ext cx="73152" cy="1005840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27157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Booster category signal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304495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Dash scatter plot shows booster categories are useful for visual comparison of landing outcomes.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26060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606040"/>
            <a:ext cx="73152" cy="1005840"/>
          </a:xfrm>
          <a:prstGeom prst="rect">
            <a:avLst/>
          </a:prstGeom>
          <a:solidFill>
            <a:srgbClr val="FF7EB6"/>
          </a:solidFill>
          <a:ln w="12700">
            <a:solidFill>
              <a:srgbClr val="FF7E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27157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Geospatial advantage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28232" y="304495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Coastal siting supports safe launch paths and recovery logistics while staying connected to nearby infrastructure.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0690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069080"/>
            <a:ext cx="73152" cy="100584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417880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Decision support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" y="45079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Combining dashboard, maps and ML creates a richer tool for estimating mission risk and launch cost.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069080"/>
            <a:ext cx="73152" cy="100584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417880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Model choice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28232" y="45079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A tied top accuracy favors the simpler, more interpretable Logistic Regression model as a baseline.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1188720"/>
            <a:ext cx="53035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The full SpaceX Falcon 9 workflow was completed from data collection through final predictive modeling.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EDA, SQL and visual analytics showed clear relationships between launch success and time, orbit, launch site, payload mass and booster category.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Folium and Dash added interactive exploration beyond static charts.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Classification models predicted first-stage landing success with a best test accuracy of 83.3%.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The project demonstrates how data science can support launch cost estimation and mission planning.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E5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325880"/>
            <a:ext cx="73152" cy="9144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43560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Final recommendation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65392" y="17647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Use Logistic Regression as an interpretable baseline, while continuing to test larger datasets and more recent launch records.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606040"/>
            <a:ext cx="73152" cy="914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71576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044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</a:rPr>
              <a:t>Add weather, launch window, mission complexity and newer booster reuse history to improve predictive power.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Additional EDA Visuals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19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pic>
        <p:nvPicPr>
          <p:cNvPr id="10" name="Image 0" descr="/mnt/data/capstone_assets/eda_fligh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12" y="1143000"/>
            <a:ext cx="3228535" cy="2331720"/>
          </a:xfrm>
          <a:prstGeom prst="rect">
            <a:avLst/>
          </a:prstGeom>
        </p:spPr>
      </p:pic>
      <p:pic>
        <p:nvPicPr>
          <p:cNvPr id="11" name="Image 1" descr="/mnt/data/capstone_assets/eda_flight_or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19387"/>
            <a:ext cx="3520440" cy="1778946"/>
          </a:xfrm>
          <a:prstGeom prst="rect">
            <a:avLst/>
          </a:prstGeom>
        </p:spPr>
      </p:pic>
      <p:pic>
        <p:nvPicPr>
          <p:cNvPr id="12" name="Image 2" descr="/mnt/data/capstone_assets/eda_payload_orb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14424"/>
            <a:ext cx="3520440" cy="15888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886200"/>
            <a:ext cx="10607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50" dirty="0">
                <a:solidFill>
                  <a:srgbClr val="262626"/>
                </a:solidFill>
              </a:rPr>
              <a:t>Additional visuals were used during analysis to compare flight number, payload mass, launch site and orbit type against landing success.</a:t>
            </a:r>
            <a:endParaRPr lang="en-US" sz="1250" dirty="0"/>
          </a:p>
          <a:p>
            <a:r>
              <a:rPr lang="en-US" sz="1250" dirty="0">
                <a:solidFill>
                  <a:srgbClr val="262626"/>
                </a:solidFill>
              </a:rPr>
              <a:t>These visuals support the final interpretation that launch success is multi-factorial and has improved with experience.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Project Deliverables Checklist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5252"/>
                </a:solidFill>
              </a:rPr>
              <a:t>Slide 20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6F6F"/>
                </a:solidFill>
              </a:rPr>
              <a:t>IBM Data Science Capstone | SpaceX Falcon 9 Landing Prediction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104120" y="6565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6F6F"/>
                </a:solidFill>
              </a:rPr>
              <a:t>Omkar Sawant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14400" y="11430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161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62626"/>
                </a:solidFill>
              </a:rPr>
              <a:t>GitHub repository link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91440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1984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62626"/>
                </a:solidFill>
              </a:rPr>
              <a:t>Completed notebooks and Python files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914400" y="27889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8072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62626"/>
                </a:solidFill>
              </a:rPr>
              <a:t>PDF presentation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91440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62626"/>
                </a:solidFill>
              </a:rPr>
              <a:t>EDA, SQL, Folium, Dash and ML results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914400" y="4434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453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62626"/>
                </a:solidFill>
              </a:rPr>
              <a:t>Creative/innovative insights</a:t>
            </a:r>
            <a:endParaRPr lang="en-US" sz="1280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1417320" y="58064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8A3FF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https://github.com/OmkarSawant23/Data-Science-Capstone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1914</Words>
  <Application>Microsoft Office PowerPoint</Application>
  <PresentationFormat>Widescreen</PresentationFormat>
  <Paragraphs>291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IBM Data Science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</dc:title>
  <dc:subject>IBM Data Science Capstone Project: SpaceX Falcon 9 Landing Prediction</dc:subject>
  <dc:creator>Omkar Sawant</dc:creator>
  <cp:lastModifiedBy>Omkar Shashikant Sawant [Student-PECS]</cp:lastModifiedBy>
  <cp:revision>7</cp:revision>
  <dcterms:created xsi:type="dcterms:W3CDTF">2026-05-28T22:17:45Z</dcterms:created>
  <dcterms:modified xsi:type="dcterms:W3CDTF">2026-05-28T22:45:27Z</dcterms:modified>
</cp:coreProperties>
</file>